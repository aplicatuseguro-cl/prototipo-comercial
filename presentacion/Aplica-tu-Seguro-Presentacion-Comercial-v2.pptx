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 María como caso ficticio desde el primer minuto. Todo lo que se verá son datos simulados.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presentar estos problemas como estadísticas nacionales: son el caso de María.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reglas universales: cada póliza define sus propias condiciones.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ejemplo es ilustrativo: no se consulta ningún plan real ni información de prestadores.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Mantener el lenguaje en condicional. Son hipótesis que el piloto permitiría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Cambiar la vista en vivo si se presenta el prototipo. La separación es un principio obligatorio de la arquitectura propuesta.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que el enlace esté compartido antes de enviar la presentación por correo.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carta de intención no es parte del piloto: puede ser un paso comercial posterior.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la pregunta y quedarse callado.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artifact/NSb5DKAfVGnkGbQdXLfkYX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hola@aplicatuseguro.cl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totipo-comercial/presentacion/img/tor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>
              <a:alpha val="6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1" descr="/home/user/Prototipo-comercial/presentacion/img/logo-blanc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" y="603504"/>
            <a:ext cx="402336" cy="42611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344168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TU SEGURO</a:t>
            </a:r>
            <a:endParaRPr lang="en-US" sz="115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2286000"/>
            <a:ext cx="9509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 tus coberturas de salud.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Finalmente trabajando juntas.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4297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600" dirty="0">
                <a:solidFill>
                  <a:srgbClr val="C8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forma de ayudar a los colaboradores y sus familias a entender y aprovechar mejor los beneficios de salud que la empresa ya financia.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9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comercial · Propuesta en validación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totipo-comercial/presentacion/img/atacam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0"/>
            <a:ext cx="455645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7132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PROBLEMA · CASO FICTICIO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078992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María y su familia tienen cuatro coberturas de salud activas.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79806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una tiene condiciones, topes y procesos diferentes.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3493008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252728" y="34564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sabe cómo se coordinan sus coberturas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52728" y="37673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póliza tiene sus propias condiciones y su propio proceso.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4334256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252728" y="42976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sabe cuánto podría pagar antes de atenderse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460857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monto a pagar aparece recién al momento de la atención.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5175504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252728" y="51389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Puede dejar vencer beneficios o reembolsos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52728" y="544982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Topes anuales sin usar y solicitudes incompletas que caducan.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34593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María, su familia y sus pólizas son un caso ficticio construido para esta presentación. No representan datos ni estadísticas de ningún grupo de personas.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132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FRAGMENTACIÓN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78992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coberturas de una misma familia</a:t>
            </a:r>
            <a:endParaRPr lang="en-US" sz="2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suelen administrarse por separado.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48716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cobertura puede tener condiciones, topes, documentos y vigencias diferentes. El desafío aparece cuando una familia debe entenderlas y coordinarlas para una atención concreta.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3383280"/>
            <a:ext cx="2468880" cy="173736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4984" y="365760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Isapre o Fonasa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14984" y="4242816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Condiciones y coberturas definidas por el sistema de salud de cada persona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02152" y="3383280"/>
            <a:ext cx="2468880" cy="173736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39896" y="365760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Seguro complementario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39896" y="4242816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Deducible, topes y reembolsos definidos por la póliza colectiva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7064" y="3383280"/>
            <a:ext cx="2468880" cy="173736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365760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Seguro dental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4242816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Tope anual y prestaciones definidos por la póliza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51976" y="3383280"/>
            <a:ext cx="2468880" cy="173736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365760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Seguro de accidentes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4242816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Cobertura y condiciones definidas por la póliza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5431536"/>
            <a:ext cx="10637215" cy="786384"/>
          </a:xfrm>
          <a:prstGeom prst="roundRect">
            <a:avLst>
              <a:gd name="adj" fmla="val 16279"/>
            </a:avLst>
          </a:prstGeom>
          <a:solidFill>
            <a:srgbClr val="F2F5FA"/>
          </a:solidFill>
          <a:ln w="12700">
            <a:solidFill>
              <a:srgbClr val="DEE6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88136" y="5650992"/>
            <a:ext cx="10015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condiciones y el orden en que opera cada cobertura dependen de cada póliza en particular.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6345936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construido a partir del caso ficticio de María. No describe reglas aplicables a todas las pólizas.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totipo-comercial/presentacion/img/altiplan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77240" y="7132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8FA9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SOLUCIÓN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078992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tu Seguro</a:t>
            </a:r>
            <a:endParaRPr lang="en-US" sz="3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 otro seguro.</a:t>
            </a:r>
            <a:endParaRPr lang="en-US" sz="31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2004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C8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una propuesta de plataforma que ayuda a entender y coordinar las coberturas que una persona y su familia ya poseen.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330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FA9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vende ni intermedia seguros, y no reemplaza a una Isapre, Fonasa, aseguradora, corredor ni prestador médico.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" y="4828032"/>
            <a:ext cx="124724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828032"/>
            <a:ext cx="1247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ENTIENDE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70786" y="4828032"/>
            <a:ext cx="124724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70786" y="4828032"/>
            <a:ext cx="1247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64331" y="4828032"/>
            <a:ext cx="114848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4331" y="4828032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59122" y="4828032"/>
            <a:ext cx="1049731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59122" y="4828032"/>
            <a:ext cx="10497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55157" y="4828032"/>
            <a:ext cx="852221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55157" y="4828032"/>
            <a:ext cx="8522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GUÍA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086600" y="1097280"/>
            <a:ext cx="4315968" cy="4663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79400" dist="76200" dir="5400000">
              <a:srgbClr val="0B1420">
                <a:alpha val="3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70648" y="146304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220" kern="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ILUSTRATIVO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470648" y="1792224"/>
            <a:ext cx="3547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hija de María necesita una resonancia de rodilla.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470648" y="2578608"/>
            <a:ext cx="3547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los datos preparados para este ejemplo, Aplica tu Seguro mostraría tres alternativas y cuánto pagaría María de su bolsillo en cada una.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470648" y="3474720"/>
            <a:ext cx="3547872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71816" y="34747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 A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671816" y="347472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$30.000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470648" y="3986784"/>
            <a:ext cx="3547872" cy="420624"/>
          </a:xfrm>
          <a:prstGeom prst="roundRect">
            <a:avLst>
              <a:gd name="adj" fmla="val 21739"/>
            </a:avLst>
          </a:prstGeom>
          <a:solidFill>
            <a:srgbClr val="EAF7EF"/>
          </a:solidFill>
          <a:ln w="12700">
            <a:solidFill>
              <a:srgbClr val="BFE5C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671816" y="39867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 B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671816" y="3986784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$25.000  ·  menor gasto estimado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470648" y="4498848"/>
            <a:ext cx="3547872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71816" y="4498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 C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671816" y="449884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$35.000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470648" y="513892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Comparación exclusivamente económica · Precios y coberturas simulados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132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ESPERADO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78992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esperamos que aporte,</a:t>
            </a:r>
            <a:endParaRPr lang="en-US" sz="2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qué queremos validar.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4871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siguiente son resultados esperados e hipótesis de trabajo, no resultados medidos.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3017520"/>
            <a:ext cx="3374136" cy="1481328"/>
          </a:xfrm>
          <a:prstGeom prst="roundRect">
            <a:avLst>
              <a:gd name="adj" fmla="val 8642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291840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C3E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el colaborador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657600"/>
            <a:ext cx="2825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Mayor claridad sobre sus coberturas, los gastos estimados y los próximos pasos.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07408" y="3017520"/>
            <a:ext cx="3374136" cy="1481328"/>
          </a:xfrm>
          <a:prstGeom prst="roundRect">
            <a:avLst>
              <a:gd name="adj" fmla="val 8642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81728" y="3291840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C3E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Recursos Humanos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3657600"/>
            <a:ext cx="2825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 agregada para evaluar adopción y utilización del beneficio.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37576" y="3017520"/>
            <a:ext cx="3374136" cy="1481328"/>
          </a:xfrm>
          <a:prstGeom prst="roundRect">
            <a:avLst>
              <a:gd name="adj" fmla="val 8642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11896" y="3291840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C3E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la empresa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311896" y="3657600"/>
            <a:ext cx="2825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oportunidad de aumentar el valor percibido de beneficios que ya financia.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4828032"/>
            <a:ext cx="10637215" cy="1371600"/>
          </a:xfrm>
          <a:prstGeom prst="roundRect">
            <a:avLst>
              <a:gd name="adj" fmla="val 10667"/>
            </a:avLst>
          </a:prstGeom>
          <a:solidFill>
            <a:srgbClr val="162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61288" y="5029200"/>
            <a:ext cx="98691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220" kern="0" dirty="0">
                <a:solidFill>
                  <a:srgbClr val="8FA9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TRANSPARENCIA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" y="5358384"/>
            <a:ext cx="98691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tu Seguro está en validación comercial. 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8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existen integraciones, clientes, pilotos ejecutados, resultados reales ni acuerdos con terceros, y todos los datos de esta presentación son sintéticos.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132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PRIVACIDAD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78992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diseño propuesto separa la experiencia individual</a:t>
            </a:r>
            <a:endParaRPr lang="en-US" sz="2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dashboard corporativo.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505456"/>
            <a:ext cx="5138928" cy="2212848"/>
          </a:xfrm>
          <a:prstGeom prst="roundRect">
            <a:avLst>
              <a:gd name="adj" fmla="val 5785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7249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EMPRESA NO ACCEDE 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69848" y="3136392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71016" y="30540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69848" y="3401568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71016" y="33192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 médicos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69848" y="3666744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71016" y="35844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Consultas individuales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69848" y="393192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71016" y="38496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Gastos individuales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69848" y="4197096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71016" y="4114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Pólizas personales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69848" y="4462272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71016" y="43799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Reembolsos individuales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2505456"/>
            <a:ext cx="5129784" cy="2212848"/>
          </a:xfrm>
          <a:prstGeom prst="roundRect">
            <a:avLst>
              <a:gd name="adj" fmla="val 5785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27249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200" kern="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EMPRESA PODRÍA RECIBIR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64808" y="313639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65976" y="30540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Activación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64808" y="3401568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65976" y="33192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Adopción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64808" y="366674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65976" y="35844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Utilización agregada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64808" y="3931920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65976" y="384962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económicos agregados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64808" y="4197096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65976" y="41148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 anonimizada o suprimida conforme al diseño definitivo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901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mismo registro, dos miradas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3611880" y="4919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completamente simulada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5266944"/>
            <a:ext cx="5138928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4984" y="5394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spc="160" kern="0" dirty="0">
                <a:solidFill>
                  <a:srgbClr val="2C3E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COLABORADOR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14984" y="5650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514600" y="56509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Sofía · 9 años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5833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Prestación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514600" y="58338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Resonancia de rodilla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" y="60167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Pago estimado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514600" y="60167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$25.000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5266944"/>
            <a:ext cx="5129784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9944" y="5394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spc="160" kern="0" dirty="0">
                <a:solidFill>
                  <a:srgbClr val="2C3E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RECURSOS HUMANOS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409944" y="5650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909560" y="56509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disponible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409944" y="5833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Prestación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909560" y="58338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disponible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409944" y="60167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Pago estimado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909560" y="60167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Incluido en el total agregado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77240" y="6364224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umbrales y las medidas definitivas de anonimización deben validarse antes de un piloto. El ejemplo no representa una garantía legal o técnica.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132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PROTOTIPO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78992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 el prototipo comercial.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139696"/>
            <a:ext cx="6967728" cy="3950208"/>
          </a:xfrm>
          <a:prstGeom prst="roundRect">
            <a:avLst>
              <a:gd name="adj" fmla="val 3241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28600" dist="63500" dir="5400000">
              <a:srgbClr val="0B1420">
                <a:alpha val="12000"/>
              </a:srgbClr>
            </a:outerShdw>
          </a:effectLst>
        </p:spPr>
      </p:sp>
      <p:pic>
        <p:nvPicPr>
          <p:cNvPr id="5" name="Image 0" descr="/home/user/Prototipo-comercial/presentacion/img/proto-comparad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231136"/>
            <a:ext cx="6784848" cy="3767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01584" y="2231136"/>
            <a:ext cx="3310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prototipo permite recorrer la experiencia propuesta para María, su familia y Recursos Humanos. Utiliza datos 100% simulados y no está conectado a Isapres, aseguradoras ni prestadores.</a:t>
            </a:r>
            <a:endParaRPr lang="en-US" sz="1250" dirty="0"/>
          </a:p>
        </p:txBody>
      </p:sp>
      <p:pic>
        <p:nvPicPr>
          <p:cNvPr id="7" name="Image 1" descr="/home/user/Prototipo-comercial/presentacion/img/q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01584" y="3767328"/>
            <a:ext cx="1371600" cy="1371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56064" y="38404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Escanea o abre el enlace</a:t>
            </a:r>
            <a:endParaRPr lang="en-US" sz="1100" dirty="0"/>
          </a:p>
        </p:txBody>
      </p:sp>
      <p:sp>
        <p:nvSpPr>
          <p:cNvPr id="9" name="Text 5">
            <a:hlinkClick r:id="rId3" tooltip=""/>
          </p:cNvPr>
          <p:cNvSpPr txBox="1"/>
          <p:nvPr/>
        </p:nvSpPr>
        <p:spPr>
          <a:xfrm>
            <a:off x="9637776" y="415137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u="sng" dirty="0">
                <a:solidFill>
                  <a:srgbClr val="2F6FE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claude.ai/artifact/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u="sng" dirty="0">
                <a:solidFill>
                  <a:srgbClr val="2F6FE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NSb5DKAfVGnkGbQdXLfkYX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8101584" y="5321808"/>
            <a:ext cx="3310128" cy="768096"/>
          </a:xfrm>
          <a:prstGeom prst="roundRect">
            <a:avLst>
              <a:gd name="adj" fmla="val 16667"/>
            </a:avLst>
          </a:prstGeom>
          <a:solidFill>
            <a:srgbClr val="F2F5FA"/>
          </a:solidFill>
          <a:ln w="12700">
            <a:solidFill>
              <a:srgbClr val="DEE6F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39328" y="55046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Prototipo alojado temporalmente en un entorno de demostración.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6345936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Prototipo de validación comercial, no un producto en producción. Las personas, la empresa, las pólizas, los precios y los prestadores son ficticios.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totipo-comercial/presentacion/img/fiord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0"/>
            <a:ext cx="455645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7132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PILOTO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078992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corporativo</a:t>
            </a:r>
            <a:endParaRPr lang="en-US" sz="2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90 días.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804672" y="2871216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8136" y="2798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días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050792" y="2871216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34256" y="2798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100 colaboradores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4672" y="3383280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88136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 familiar incluido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50792" y="3383280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34256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acompañado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4672" y="3895344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88136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Medición de adopción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050792" y="3895344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34256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Medición de utilización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4672" y="4407408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88136" y="4334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corporativo agregado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50792" y="4407408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34256" y="4334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Criterios de éxito acordados con la empresa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77240" y="4956048"/>
            <a:ext cx="6492240" cy="1042416"/>
          </a:xfrm>
          <a:prstGeom prst="roundRect">
            <a:avLst>
              <a:gd name="adj" fmla="val 12281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51560" y="5138928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cierre, la empresa revisa los indicadores agregados y los criterios de éxito acordados para decidir el siguiente paso.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634593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piloto busca validar problema, solución, adopción, operación y disposición a pagar. Sin precio en esta etapa.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totipo-comercial/presentacion/img/cos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1" descr="/home/user/Prototipo-comercial/presentacion/img/logo-blanc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" y="603504"/>
            <a:ext cx="402336" cy="42611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344168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TU SEGURO</a:t>
            </a:r>
            <a:endParaRPr lang="en-US" sz="115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2157984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¿Tendría sentido validar Aplica tu Seguro</a:t>
            </a:r>
            <a:endParaRPr lang="en-US" sz="32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un grupo de sus colaboradores?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3950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8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Conversemos sobre el alcance y los criterios de un piloto de 90 días.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77240" y="4535424"/>
            <a:ext cx="5029200" cy="1481328"/>
          </a:xfrm>
          <a:prstGeom prst="roundRect">
            <a:avLst>
              <a:gd name="adj" fmla="val 987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06424" y="4736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Diego Córdova E.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06424" y="50292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Fundador · Aplica tu Seguro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1106424" y="53583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+569 8495 3941</a:t>
            </a:r>
            <a:endParaRPr lang="en-US" sz="1200" dirty="0"/>
          </a:p>
        </p:txBody>
      </p:sp>
      <p:sp>
        <p:nvSpPr>
          <p:cNvPr id="12" name="Text 8">
            <a:hlinkClick r:id="rId3" tooltip=""/>
          </p:cNvPr>
          <p:cNvSpPr txBox="1"/>
          <p:nvPr/>
        </p:nvSpPr>
        <p:spPr>
          <a:xfrm>
            <a:off x="1106424" y="56327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u="sng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hola@aplicatuseguro.cl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6345936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FA9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tu Seguro está en validación comercial. Todos los datos de esta presentación son sintéticos y no corresponden a resultados de clientes.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Aplica tu Seguro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 tu Seguro — Presentación comercial</dc:title>
  <dc:subject>Presentación comercial B2B2E · datos simulados</dc:subject>
  <dc:creator>Aplica tu Seguro</dc:creator>
  <cp:lastModifiedBy>Aplica tu Seguro</cp:lastModifiedBy>
  <cp:revision>1</cp:revision>
  <dcterms:created xsi:type="dcterms:W3CDTF">2026-09-20T02:43:43Z</dcterms:created>
  <dcterms:modified xsi:type="dcterms:W3CDTF">2026-09-20T02:43:43Z</dcterms:modified>
</cp:coreProperties>
</file>