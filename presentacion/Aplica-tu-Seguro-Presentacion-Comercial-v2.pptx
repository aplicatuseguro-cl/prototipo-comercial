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12191695"/>
  <p:notesSz cx="12191695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 María como caso ficticio desde el primer minuto. Todo lo que se verá son datos simulados.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presentar estos problemas como estadísticas nacionales: son el caso de María.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Evitar reglas universales: cada póliza define sus propias condiciones.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ejemplo es ilustrativo: no se consulta ningún plan real ni información de prestadores.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Mantener el lenguaje en condicional. Son hipótesis que el piloto permitiría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la vista en vivo si se presenta el prototipo. La separación es un principio obligatorio de la arquitectura propuesta.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Confirmar que el enlace esté compartido antes de enviar la presentación por correo.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carta de intención no es parte del piloto: puede ser un paso comercial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la pregunta y quedarse callado.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NSb5DKAfVGnkGbQdXLfkYX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ola@aplicatuseguro.cl" TargetMode="External"/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logo-blan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pic>
        <p:nvPicPr>
          <p:cNvPr id="4" name="Image 1" descr="/home/user/Prototipo-comercial/presentacion/img/santiag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2148840"/>
            <a:ext cx="9144000" cy="43891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2148840"/>
            <a:ext cx="9144000" cy="4389120"/>
          </a:xfrm>
          <a:prstGeom prst="rect">
            <a:avLst/>
          </a:prstGeom>
          <a:solidFill>
            <a:srgbClr val="16233A">
              <a:alpha val="3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754380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tus coberturas de salud.</a:t>
            </a:r>
            <a:endParaRPr lang="en-US" sz="3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Finalmente trabajando juntas.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777240" y="896112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93726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forma de ayudar a los colaboradores y sus familias a entender y aprovechar mejor los beneficios de salud que la empresa ya financia.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112471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comercial · Propuesta en validación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PROBLEMA · CASO FICTICIO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 y su familia tienen cuatro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coberturas de salud activas.</a:t>
            </a:r>
            <a:endParaRPr lang="en-US" sz="2600" dirty="0"/>
          </a:p>
        </p:txBody>
      </p:sp>
      <p:pic>
        <p:nvPicPr>
          <p:cNvPr id="4" name="Image 0" descr="/home/user/Prototipo-comercial/presentacion/img/atacam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2880360"/>
            <a:ext cx="9144000" cy="2743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2880360"/>
            <a:ext cx="9144000" cy="2743200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61722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tiene condiciones, topes y procesos diferentes.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6995160"/>
            <a:ext cx="310896" cy="310896"/>
          </a:xfrm>
          <a:prstGeom prst="ellipse">
            <a:avLst/>
          </a:prstGeom>
          <a:solidFill>
            <a:srgbClr val="2C3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6995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89304" y="696772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cómo se coordinan sus coberturas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289304" y="73243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póliza tiene sus propias condiciones y su propio proceso.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" y="8321040"/>
            <a:ext cx="310896" cy="310896"/>
          </a:xfrm>
          <a:prstGeom prst="ellipse">
            <a:avLst/>
          </a:prstGeom>
          <a:solidFill>
            <a:srgbClr val="2C3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8321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89304" y="829360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cuánto podría pagar antes de atenderse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289304" y="865022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monto a pagar aparece recién al momento de la atención.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" y="9646920"/>
            <a:ext cx="310896" cy="310896"/>
          </a:xfrm>
          <a:prstGeom prst="ellipse">
            <a:avLst/>
          </a:prstGeom>
          <a:solidFill>
            <a:srgbClr val="2C3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9646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289304" y="961948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Puede dejar vencer beneficios o reembolsos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1289304" y="997610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Topes anuales sin usar y solicitudes incompletas que caducan.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María, su familia y sus pólizas son un caso ficticio construido para esta presentación. No representan datos ni estadísticas de ningún grupo de personas.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FRAGMENTACIÓN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coberturas de una misma familia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suelen administrarse por separado.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517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4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cobertura puede tener condiciones, topes, documentos y vigencias diferentes. El desafío aparece cuando una familia debe entenderlas y coordinarlas para una atención concreta.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8404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330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Isapre o Fonasa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41330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Condiciones y coberturas definidas por el sistema de salud de cada persona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52120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55046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complementario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55046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Deducible, topes y reembolsos definidos por la póliza colectiva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65836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68762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dental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68762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Tope anual y prestaciones definidos por la póliza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79552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824788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Seguro de accidentes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8247888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Cobertura y condiciones definidas por la póliza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9326880"/>
            <a:ext cx="7589520" cy="18288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9784080"/>
            <a:ext cx="7589520" cy="1097280"/>
          </a:xfrm>
          <a:prstGeom prst="roundRect">
            <a:avLst>
              <a:gd name="adj" fmla="val 11667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8136" y="10058400"/>
            <a:ext cx="69677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condiciones y el orden en que opera cada cobertura dependen de cada póliza en particular.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construido a partir del caso ficticio de María. No describe reglas aplicables a todas las pólizas.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patagonia-fon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1219169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12191695"/>
          </a:xfrm>
          <a:prstGeom prst="rect">
            <a:avLst/>
          </a:prstGeom>
          <a:solidFill>
            <a:srgbClr val="16233A">
              <a:alpha val="8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SOLUCIÓN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otro seguro.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6517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una propuesta de plataforma que ayuda a entender y coordinar las coberturas que una persona y su familia ya poseen.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5204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vende ni intermedia seguros, y no reemplaza a una Isapre, Fonasa, aseguradora, corredor ni prestador médico.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ENTIENDE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70786" y="4315968"/>
            <a:ext cx="1247242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70786" y="4315968"/>
            <a:ext cx="12472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564331" y="4315968"/>
            <a:ext cx="1148486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4331" y="4315968"/>
            <a:ext cx="11484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59122" y="4315968"/>
            <a:ext cx="104973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59122" y="4315968"/>
            <a:ext cx="10497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55157" y="4315968"/>
            <a:ext cx="852221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55157" y="4315968"/>
            <a:ext cx="8522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spc="14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77240" y="5193792"/>
            <a:ext cx="7589520" cy="5779008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B1420">
                <a:alpha val="30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1234440" y="55778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2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 ILUSTRATIVO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594360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hija de María necesita</a:t>
            </a:r>
            <a:endParaRPr lang="en-US" sz="21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resonancia de rodilla.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70408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los datos preparados para este ejemplo, Aplica tu Seguro mostraría tres alternativas y cuánto pagaría María de su bolsillo en cada una.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234440" y="8028432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490472" y="8028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490472" y="8028432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$30.000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234440" y="8705088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EAF7EF"/>
          </a:solidFill>
          <a:ln w="12700">
            <a:solidFill>
              <a:srgbClr val="BFE5C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90472" y="870508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B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1490472" y="8705088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  ·  menor gasto estimado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234440" y="9381744"/>
            <a:ext cx="6675120" cy="566928"/>
          </a:xfrm>
          <a:prstGeom prst="roundRect">
            <a:avLst>
              <a:gd name="adj" fmla="val 19355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93817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Centro C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9381744"/>
            <a:ext cx="6163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$35.000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234440" y="1022299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Comparación exclusivamente económica · Precios y coberturas simulados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 ESPERADO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esperamos que aporte,</a:t>
            </a:r>
            <a:endParaRPr lang="en-US" sz="27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qué queremos validar.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346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siguiente son resultados esperados e hipótesis de trabajo, no resultados medidos.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65760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6424" y="396849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el colaborador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06424" y="440740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Mayor claridad sobre sus coberturas, los gastos estimados y los próximos pasos.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534924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566013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Recursos Humanos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" y="609904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agregada para evaluar adopción y utilización del beneficio.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7040880"/>
            <a:ext cx="7589520" cy="1417320"/>
          </a:xfrm>
          <a:prstGeom prst="roundRect">
            <a:avLst>
              <a:gd name="adj" fmla="val 9032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7351776"/>
            <a:ext cx="6931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la empresa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7790688"/>
            <a:ext cx="6931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oportunidad de aumentar el valor percibido de beneficios que ya financia.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9098280"/>
            <a:ext cx="7589520" cy="2011680"/>
          </a:xfrm>
          <a:prstGeom prst="roundRect">
            <a:avLst>
              <a:gd name="adj" fmla="val 7273"/>
            </a:avLst>
          </a:prstGeom>
          <a:solidFill>
            <a:srgbClr val="1623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34440" y="941832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20" kern="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TRANSPARENCIA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980236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</a:t>
            </a:r>
            <a:pPr algn="l" indent="0" marL="0">
              <a:lnSpc>
                <a:spcPct val="132000"/>
              </a:lnSpc>
              <a:buNone/>
            </a:pPr>
            <a:r>
              <a:rPr lang="en-US" sz="13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existen integraciones, clientes, pilotos ejecutados, resultados reales ni acuerdos con terceros, y todos los datos de esta presentación son sintéticos.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PRIVACIDAD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diseño propuesto separa la experiencia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 del dashboard corporativo.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3017520"/>
            <a:ext cx="7589520" cy="2560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3282696"/>
            <a:ext cx="6931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NO ACCEDE 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24712" y="3867912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62456" y="377647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24712" y="4169664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362456" y="407822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Documentos médicos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124712" y="4471416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62456" y="437997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Consultas individuales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712" y="4773168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62456" y="468172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Gastos individuales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24712" y="5074920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62456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Pólizas personales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712" y="5376672"/>
            <a:ext cx="91440" cy="914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62456" y="52852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Reembolsos individuales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5897880"/>
            <a:ext cx="7589520" cy="2331720"/>
          </a:xfrm>
          <a:prstGeom prst="roundRect">
            <a:avLst>
              <a:gd name="adj" fmla="val 5490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06424" y="6163056"/>
            <a:ext cx="6931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200" kern="0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EMPRESA PODRÍA RECIBIR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124712" y="6748272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62456" y="66568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Activación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124712" y="7050024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695858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712" y="7351776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62456" y="7260336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Utilización agregada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124712" y="7653528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62456" y="7562088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económicos agregados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24712" y="7955280"/>
            <a:ext cx="91440" cy="914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78638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Información anonimizada o suprimida conforme al diseño definitivo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8641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mismo registro, dos miradas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34840" y="86776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Atención completamente simulada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914400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33272" y="93817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60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COLABORADOR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033272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258568" y="97840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Sofía · 9 años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33272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258568" y="100584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Resonancia de rodilla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033272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2258568" y="10332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$25.000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09160" y="9144000"/>
            <a:ext cx="36576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65192" y="93817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60" kern="0" dirty="0">
                <a:solidFill>
                  <a:srgbClr val="2C3E5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 HUMANOS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965192" y="9784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190488" y="9784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965192" y="100584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Prestación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190488" y="10058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disponible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4965192" y="103327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Pago estimado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190488" y="10332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Incluido en el total agregado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111556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umbrales y las medidas definitivas de anonimización deben validarse antes de un piloto. El ejemplo no representa una garantía legal o técnica.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Explora el prototipo comercial.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67512" y="2331720"/>
            <a:ext cx="7808976" cy="4965192"/>
          </a:xfrm>
          <a:prstGeom prst="roundRect">
            <a:avLst>
              <a:gd name="adj" fmla="val 2578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  <a:effectLst>
            <a:outerShdw sx="100000" sy="100000" kx="0" ky="0" algn="bl" rotWithShape="0" blurRad="228600" dist="63500" dir="5400000">
              <a:srgbClr val="0B1420">
                <a:alpha val="12000"/>
              </a:srgbClr>
            </a:outerShdw>
          </a:effectLst>
        </p:spPr>
      </p:sp>
      <p:pic>
        <p:nvPicPr>
          <p:cNvPr id="5" name="Image 0" descr="/home/user/Prototipo-comercial/presentacion/img/proto-comparad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441448"/>
            <a:ext cx="7589520" cy="4745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772668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3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prototipo permite recorrer la experiencia propuesta para María, su familia y Recursos Humanos. Utiliza datos 100% simulados y no está conectado a Isapres, aseguradoras ni prestadores.</a:t>
            </a:r>
            <a:endParaRPr lang="en-US" sz="1300" dirty="0"/>
          </a:p>
        </p:txBody>
      </p:sp>
      <p:pic>
        <p:nvPicPr>
          <p:cNvPr id="7" name="Image 1" descr="/home/user/Prototipo-comercial/presentacion/img/q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886968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14600" y="9006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Escanea o abre el enlace</a:t>
            </a:r>
            <a:endParaRPr lang="en-US" sz="1200" dirty="0"/>
          </a:p>
        </p:txBody>
      </p:sp>
      <p:sp>
        <p:nvSpPr>
          <p:cNvPr id="9" name="Text 5">
            <a:hlinkClick r:id="rId3" tooltip=""/>
          </p:cNvPr>
          <p:cNvSpPr txBox="1"/>
          <p:nvPr/>
        </p:nvSpPr>
        <p:spPr>
          <a:xfrm>
            <a:off x="2514600" y="934516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claude.ai/artifact/</a:t>
            </a:r>
            <a:endParaRPr lang="en-US" sz="11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00" u="sng" dirty="0">
                <a:solidFill>
                  <a:srgbClr val="2F6FED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NSb5DKAfVGnkGbQdXLfkYX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77240" y="10607040"/>
            <a:ext cx="7589520" cy="749808"/>
          </a:xfrm>
          <a:prstGeom prst="roundRect">
            <a:avLst>
              <a:gd name="adj" fmla="val 17073"/>
            </a:avLst>
          </a:prstGeom>
          <a:solidFill>
            <a:srgbClr val="F2F5FA"/>
          </a:solidFill>
          <a:ln w="12700">
            <a:solidFill>
              <a:srgbClr val="DEE6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88136" y="10817352"/>
            <a:ext cx="6967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alojado temporalmente en un entorno de demostración.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116311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Prototipo de validación comercial, no un producto en producción. Las personas, la empresa, las pólizas, los precios y los prestadores son ficticios.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41248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spc="240" kern="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43584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Piloto corporativo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90 días.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04672" y="306324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días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90872" y="3063240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92624" y="29718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Hasta 100 colaboradores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04672" y="3776472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36850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Acceso familiar incluido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76472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92624" y="36850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acompañado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" y="4489704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6424" y="43982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adopción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4489704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92624" y="439826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Medición de utilización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" y="5202936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06424" y="511149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corporativo agregado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90872" y="5202936"/>
            <a:ext cx="146304" cy="14630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92624" y="511149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Criterios de éxito acordados con la empresa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7240" y="5989320"/>
            <a:ext cx="7589520" cy="1188720"/>
          </a:xfrm>
          <a:prstGeom prst="roundRect">
            <a:avLst>
              <a:gd name="adj" fmla="val 10769"/>
            </a:avLst>
          </a:prstGeom>
          <a:solidFill>
            <a:srgbClr val="F7F8FA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8136" y="6263640"/>
            <a:ext cx="6967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4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cierre, la empresa revisa los indicadores agregados y los criterios de éxito acordados para decidir el siguiente paso.</a:t>
            </a:r>
            <a:endParaRPr lang="en-US" sz="1250" dirty="0"/>
          </a:p>
        </p:txBody>
      </p:sp>
      <p:pic>
        <p:nvPicPr>
          <p:cNvPr id="22" name="Image 0" descr="/home/user/Prototipo-comercial/presentacion/img/valdiv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7635240"/>
            <a:ext cx="9144000" cy="29260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0" y="7635240"/>
            <a:ext cx="9144000" cy="2926080"/>
          </a:xfrm>
          <a:prstGeom prst="rect">
            <a:avLst/>
          </a:prstGeom>
          <a:solidFill>
            <a:srgbClr val="FFFFFF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1141171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6B76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piloto busca validar problema, solución, adopción, operación y disposición a pagar. Sin precio en esta etapa.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ototipo-comercial/presentacion/img/vi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4206240"/>
          </a:xfrm>
          <a:prstGeom prst="rect">
            <a:avLst/>
          </a:prstGeom>
          <a:solidFill>
            <a:srgbClr val="16233A">
              <a:alpha val="4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1" descr="/home/user/Prototipo-comercial/presentacion/img/logo-blanc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932688"/>
            <a:ext cx="402336" cy="42611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44168" y="1014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3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5349240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¿Tendría sentido validar</a:t>
            </a:r>
            <a:endParaRPr lang="en-US" sz="300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con un grupo</a:t>
            </a:r>
            <a:endParaRPr lang="en-US" sz="3000" dirty="0"/>
          </a:p>
          <a:p>
            <a:pPr algn="l" indent="0" marL="0">
              <a:lnSpc>
                <a:spcPct val="116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sus colaboradores?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749808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Conversemos sobre el alcance y los criterios de un piloto de 90 días.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777240" y="8183880"/>
            <a:ext cx="1188720" cy="45720"/>
          </a:xfrm>
          <a:prstGeom prst="rect">
            <a:avLst/>
          </a:prstGeom>
          <a:solidFill>
            <a:srgbClr val="2F6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77240" y="8686800"/>
            <a:ext cx="5760720" cy="1828800"/>
          </a:xfrm>
          <a:prstGeom prst="roundRect">
            <a:avLst>
              <a:gd name="adj" fmla="val 8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43000" y="8961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Diego Córdova E.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9308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8D8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Fundador · Aplica tu Seguro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" y="9692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+569 8495 3941</a:t>
            </a:r>
            <a:endParaRPr lang="en-US" sz="1250" dirty="0"/>
          </a:p>
        </p:txBody>
      </p:sp>
      <p:sp>
        <p:nvSpPr>
          <p:cNvPr id="13" name="Text 9">
            <a:hlinkClick r:id="rId3" tooltip=""/>
          </p:cNvPr>
          <p:cNvSpPr txBox="1"/>
          <p:nvPr/>
        </p:nvSpPr>
        <p:spPr>
          <a:xfrm>
            <a:off x="1143000" y="100035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hola@aplicatuseguro.cl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11292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050" dirty="0">
                <a:solidFill>
                  <a:srgbClr val="8FA9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 tu Seguro está en validación comercial. Todos los datos de esta presentación son sintéticos y no corresponden a resultados de clientes.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Aplica tu Seguro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Aplica tu Seguro — Presentación comercial</dc:title>
  <dc:subject>Presentación comercial B2B2E · datos simulados</dc:subject>
  <dc:creator>Aplica tu Seguro</dc:creator>
  <cp:lastModifiedBy>Aplica tu Seguro</cp:lastModifiedBy>
  <cp:revision>1</cp:revision>
  <dcterms:created xsi:type="dcterms:W3CDTF">2026-09-21T01:33:34Z</dcterms:created>
  <dcterms:modified xsi:type="dcterms:W3CDTF">2026-09-21T01:33:34Z</dcterms:modified>
</cp:coreProperties>
</file>