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Abrir con el problema, no con el producto: sus colaboradores tienen más cobertura de la que creen y la usan menos de lo que podrían.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Preguntar: ¿cuántos de sus colaboradores sabrían decir hoy cuánto les queda de deducible?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nace el interés de Recursos Humanos: es plata que la empresa ya desembolsó.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que la comparación hable sola. Es una estimación, y lo decimos en pantalla.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privacidad no es una cláusula del contrato: es cómo está construido el producto.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lo envías por correo, revisa antes que el enlace esté compartido con el destinatario.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dar precio. El alcance y las condiciones se definen en conjunto antes de partir.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Hacer la pregunta y quedarse callado. Pedir: número de colaboradores, aseguradora actual y mes de renovación de la póliza.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NSb5DKAfVGnkGbQdXLfkYX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hola@aplicatuseguro.cl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torre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>
              <a:alpha val="6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1" descr="/home/user/Prototipo-comercial/presentacion/img/logo-blanc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" y="603504"/>
            <a:ext cx="402336" cy="42611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44168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2395728"/>
            <a:ext cx="9509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tus coberturas de salud.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Finalmente trabajando juntas.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777240" y="4370832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Beneficios de salud que tu empresa ya financia, finalmente aprovechados.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777240" y="5943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comercial ·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atacam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0"/>
            <a:ext cx="45564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731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PROBLEMA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09728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María tiene cuatro coberturas.</a:t>
            </a:r>
            <a:endParaRPr lang="en-US" sz="30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 no sabe cómo usarlas.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2487168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Tiene 34 años y dos hijos. Isapre para ella y los niños, Fonasa para su pareja, y el seguro complementario, dental y de accidentes que financia su empresa. Cuatro pólizas vigentes, cuatro reglas distintas.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777240" y="3767328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3767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252728" y="373075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sabe cuál cobertura se aplica primero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252728" y="402336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atención tiene un orden distinto entre Isapre, complementario y accidentes.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77240" y="4590288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45902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252728" y="455371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sabe cuánto va a pagar antes de atenderse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252728" y="484632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Descubre el copago en la caja, cuando ya no puede elegir.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77240" y="5413248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5413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537667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Pierde beneficios que su empresa ya pagó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252728" y="5669280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Topes anuales que vencen sin usarse y reembolsos que caducan por un documento.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31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QUÉ PASA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Ninguna de sus coberturas sabe</a:t>
            </a:r>
            <a:endParaRPr lang="en-US" sz="3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 las otras existen.</a:t>
            </a:r>
            <a:endParaRPr lang="en-US" sz="31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2340864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sistema chileno no falla por falta de cobertura. Falla porque las coberturas están fragmentadas y nadie tiene el incentivo de explicarlas en conjunto.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3072384"/>
            <a:ext cx="2468880" cy="1773936"/>
          </a:xfrm>
          <a:prstGeom prst="roundRect">
            <a:avLst>
              <a:gd name="adj" fmla="val 7216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6696" y="3310128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96696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378561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Fonasa o Isapre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996696" y="413308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Bonifica primero, según arancel y tramo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502152" y="3072384"/>
            <a:ext cx="2468880" cy="1773936"/>
          </a:xfrm>
          <a:prstGeom prst="roundRect">
            <a:avLst>
              <a:gd name="adj" fmla="val 7216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21608" y="3310128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21608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3721608" y="378561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Complementario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3721608" y="413308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 después, con deducible y tope anual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27064" y="3072384"/>
            <a:ext cx="2468880" cy="1773936"/>
          </a:xfrm>
          <a:prstGeom prst="roundRect">
            <a:avLst>
              <a:gd name="adj" fmla="val 7216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6520" y="3310128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8561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Dental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13308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Tope propio, sin deducible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51976" y="3072384"/>
            <a:ext cx="2468880" cy="1773936"/>
          </a:xfrm>
          <a:prstGeom prst="roundRect">
            <a:avLst>
              <a:gd name="adj" fmla="val 7216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71432" y="3310128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71432" y="3310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9171432" y="3785616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Accidentes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9171432" y="4133088"/>
            <a:ext cx="20299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0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activa antes que el complementario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77240" y="5248656"/>
            <a:ext cx="10637215" cy="841248"/>
          </a:xfrm>
          <a:prstGeom prst="roundRect">
            <a:avLst>
              <a:gd name="adj" fmla="val 15217"/>
            </a:avLst>
          </a:prstGeom>
          <a:solidFill>
            <a:srgbClr val="F2F5FA"/>
          </a:solidFill>
          <a:ln w="12700">
            <a:solidFill>
              <a:srgbClr val="DEE6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88136" y="5449824"/>
            <a:ext cx="10015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Cuatro reglas, cuatro topes y cuatro vencimientos distintos. </a:t>
            </a:r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resultado es dinero ya pagado que se pierde.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altiplan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77240" y="731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</a:t>
            </a:r>
            <a:endParaRPr lang="en-US" sz="1050" dirty="0"/>
          </a:p>
        </p:txBody>
      </p:sp>
      <p:sp>
        <p:nvSpPr>
          <p:cNvPr id="5" name="Text 2"/>
          <p:cNvSpPr txBox="1"/>
          <p:nvPr/>
        </p:nvSpPr>
        <p:spPr>
          <a:xfrm>
            <a:off x="777240" y="109728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es otro seguro.</a:t>
            </a:r>
            <a:endParaRPr lang="en-US" sz="3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 la capa que coordina</a:t>
            </a:r>
            <a:endParaRPr lang="en-US" sz="3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los que ya tienes.</a:t>
            </a:r>
            <a:endParaRPr lang="en-US" sz="3100" dirty="0"/>
          </a:p>
        </p:txBody>
      </p:sp>
      <p:sp>
        <p:nvSpPr>
          <p:cNvPr id="6" name="Text 3"/>
          <p:cNvSpPr txBox="1"/>
          <p:nvPr/>
        </p:nvSpPr>
        <p:spPr>
          <a:xfrm>
            <a:off x="777240" y="3803904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 lee todas las coberturas de la familia en conjunto y responde lo que importa en el momento de decidir.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77240" y="4681728"/>
            <a:ext cx="124724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681728"/>
            <a:ext cx="1247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ENTIENDE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70786" y="4681728"/>
            <a:ext cx="1247242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170786" y="4681728"/>
            <a:ext cx="124724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564331" y="4681728"/>
            <a:ext cx="1148486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64331" y="4681728"/>
            <a:ext cx="114848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59122" y="4681728"/>
            <a:ext cx="1049731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59122" y="4681728"/>
            <a:ext cx="104973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ALERTA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055157" y="4681728"/>
            <a:ext cx="852221" cy="384048"/>
          </a:xfrm>
          <a:prstGeom prst="roundRect">
            <a:avLst>
              <a:gd name="adj" fmla="val 50000"/>
            </a:avLst>
          </a:prstGeom>
          <a:solidFill>
            <a:srgbClr val="FFFFFF">
              <a:alpha val="16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055157" y="4681728"/>
            <a:ext cx="85222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spc="14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GUÍA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86600" y="1170432"/>
            <a:ext cx="4315968" cy="4517136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279400" dist="76200" dir="5400000">
              <a:srgbClr val="0B1420">
                <a:alpha val="30000"/>
              </a:srgbClr>
            </a:outerShdw>
          </a:effectLst>
        </p:spPr>
      </p:sp>
      <p:sp>
        <p:nvSpPr>
          <p:cNvPr id="18" name="Text 15"/>
          <p:cNvSpPr txBox="1"/>
          <p:nvPr/>
        </p:nvSpPr>
        <p:spPr>
          <a:xfrm>
            <a:off x="7470648" y="1572768"/>
            <a:ext cx="3547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22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MOMENTO CUALQUIERA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7470648" y="1901952"/>
            <a:ext cx="354787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hija de María necesita una resonancia de rodilla.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470648" y="2688336"/>
            <a:ext cx="35478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 cruza el plan de Isapre de la niña con el seguro complementario de la empresa y compara tres centros.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7470648" y="3511296"/>
            <a:ext cx="3547872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671816" y="3511296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 A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671816" y="3511296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$30.000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70648" y="4023360"/>
            <a:ext cx="3547872" cy="420624"/>
          </a:xfrm>
          <a:prstGeom prst="roundRect">
            <a:avLst>
              <a:gd name="adj" fmla="val 21739"/>
            </a:avLst>
          </a:prstGeom>
          <a:solidFill>
            <a:srgbClr val="EAF7EF"/>
          </a:solidFill>
          <a:ln w="12700">
            <a:solidFill>
              <a:srgbClr val="BFE5C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71816" y="4023360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 B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7671816" y="4023360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16A3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$25.000  ·  menor gasto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470648" y="4535424"/>
            <a:ext cx="3547872" cy="420624"/>
          </a:xfrm>
          <a:prstGeom prst="roundRect">
            <a:avLst>
              <a:gd name="adj" fmla="val 21739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7671816" y="4535424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Centro C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7671816" y="4535424"/>
            <a:ext cx="31272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$35.000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7470648" y="515721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Ejemplo ilustrativo · datos simulados · montos estimados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31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QUÉ GANA LA EMPRESA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 empresa ya invierte en salud.</a:t>
            </a:r>
            <a:endParaRPr lang="en-US" sz="3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Nosotros hacemos que se note.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2724912"/>
            <a:ext cx="3374136" cy="1591056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999232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C3E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el colaborador</a:t>
            </a:r>
            <a:endParaRPr lang="en-US" sz="145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3383280"/>
            <a:ext cx="282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Menos gasto de bolsillo, menos trámites perdidos y respuestas claras cuando más importan.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407408" y="2724912"/>
            <a:ext cx="3374136" cy="1591056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81728" y="2999232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C3E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Recursos Humanos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4681728" y="3383280"/>
            <a:ext cx="282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Evidencia de utilización para defender la renovación de la póliza, y menos consultas operativas en el buzón de Personas.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37576" y="2724912"/>
            <a:ext cx="3374136" cy="1591056"/>
          </a:xfrm>
          <a:prstGeom prst="roundRect">
            <a:avLst>
              <a:gd name="adj" fmla="val 8046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11896" y="2999232"/>
            <a:ext cx="2825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2C3E5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la empresa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3383280"/>
            <a:ext cx="2825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beneficio que ya está pagado y que por fin se percibe como tal.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700016"/>
            <a:ext cx="10637215" cy="1426464"/>
          </a:xfrm>
          <a:prstGeom prst="roundRect">
            <a:avLst>
              <a:gd name="adj" fmla="val 10256"/>
            </a:avLst>
          </a:prstGeom>
          <a:solidFill>
            <a:srgbClr val="1623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61288" y="4919472"/>
            <a:ext cx="986911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spc="220" kern="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SALUD DEL COLABORADOR SIGUE SIENDO PRIVADA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5248656"/>
            <a:ext cx="9869119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empresa nunca ve diagnósticos, documentos, consultas ni gastos individuales. </a:t>
            </a:r>
            <a:pPr algn="l" indent="0" marL="0">
              <a:lnSpc>
                <a:spcPct val="128000"/>
              </a:lnSpc>
              <a:buNone/>
            </a:pPr>
            <a:r>
              <a:rPr lang="en-US" sz="135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Recibe solo indicadores agregados, y ningún dato se muestra cuando el grupo tiene menos de siete personas.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731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PROTOTIPO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9692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Puedes verlo funcionando hoy.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85800" y="2212848"/>
            <a:ext cx="6967728" cy="4023360"/>
          </a:xfrm>
          <a:prstGeom prst="roundRect">
            <a:avLst>
              <a:gd name="adj" fmla="val 3182"/>
            </a:avLst>
          </a:prstGeom>
          <a:solidFill>
            <a:srgbClr val="F7F8FA"/>
          </a:solidFill>
          <a:ln w="12700">
            <a:solidFill>
              <a:srgbClr val="E6E9EF"/>
            </a:solidFill>
            <a:prstDash val="solid"/>
          </a:ln>
          <a:effectLst>
            <a:outerShdw sx="100000" sy="100000" kx="0" ky="0" algn="bl" rotWithShape="0" blurRad="228600" dist="63500" dir="5400000">
              <a:srgbClr val="0B1420">
                <a:alpha val="12000"/>
              </a:srgbClr>
            </a:outerShdw>
          </a:effectLst>
        </p:spPr>
      </p:sp>
      <p:pic>
        <p:nvPicPr>
          <p:cNvPr id="5" name="Image 0" descr="/home/user/Prototipo-comercial/presentacion/img/proto-comparad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2304288"/>
            <a:ext cx="6784848" cy="3840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101584" y="2304288"/>
            <a:ext cx="331012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prototipo navegable con el recorrido completo: las coberturas de la familia, los beneficios por vencer, el comparador y el reporte que ve Recursos Humanos.</a:t>
            </a:r>
            <a:endParaRPr lang="en-US" sz="1300" dirty="0"/>
          </a:p>
        </p:txBody>
      </p:sp>
      <p:pic>
        <p:nvPicPr>
          <p:cNvPr id="7" name="Image 1" descr="/home/user/Prototipo-comercial/presentacion/img/q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01584" y="3712464"/>
            <a:ext cx="1417320" cy="1417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701784" y="3785616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Escanea o abre el enlace</a:t>
            </a:r>
            <a:endParaRPr lang="en-US" sz="1100" dirty="0"/>
          </a:p>
        </p:txBody>
      </p:sp>
      <p:sp>
        <p:nvSpPr>
          <p:cNvPr id="9" name="Text 5">
            <a:hlinkClick r:id="rId3" tooltip=""/>
          </p:cNvPr>
          <p:cNvSpPr txBox="1"/>
          <p:nvPr/>
        </p:nvSpPr>
        <p:spPr>
          <a:xfrm>
            <a:off x="9674352" y="4114800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u="sng" dirty="0">
                <a:solidFill>
                  <a:srgbClr val="2F6FE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</a:t>
            </a:r>
            <a:endParaRPr lang="en-US" sz="1000" dirty="0"/>
          </a:p>
          <a:p>
            <a:pPr algn="l" indent="0" marL="0">
              <a:lnSpc>
                <a:spcPct val="122000"/>
              </a:lnSpc>
              <a:buNone/>
            </a:pPr>
            <a:r>
              <a:rPr lang="en-US" sz="1000" u="sng" dirty="0">
                <a:solidFill>
                  <a:srgbClr val="2F6FED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NSb5DKAfVGnkGbQdXLfkYX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8101584" y="5358384"/>
            <a:ext cx="3310128" cy="877824"/>
          </a:xfrm>
          <a:prstGeom prst="roundRect">
            <a:avLst>
              <a:gd name="adj" fmla="val 14583"/>
            </a:avLst>
          </a:prstGeom>
          <a:solidFill>
            <a:srgbClr val="F2F5FA"/>
          </a:solidFill>
          <a:ln w="12700">
            <a:solidFill>
              <a:srgbClr val="DEE6F2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57616" y="5541264"/>
            <a:ext cx="279806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050" dirty="0">
                <a:solidFill>
                  <a:srgbClr val="3F4A5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Prototipo de validación comercial. Todos los datos, personas, empresas y prestadores que aparecen son simulados.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fiordo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35240" y="0"/>
            <a:ext cx="455645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77240" y="73152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b="1" spc="240" kern="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PILOTO</a:t>
            </a:r>
            <a:endParaRPr lang="en-US" sz="1050" dirty="0"/>
          </a:p>
        </p:txBody>
      </p:sp>
      <p:sp>
        <p:nvSpPr>
          <p:cNvPr id="4" name="Text 1"/>
          <p:cNvSpPr txBox="1"/>
          <p:nvPr/>
        </p:nvSpPr>
        <p:spPr>
          <a:xfrm>
            <a:off x="777240" y="1097280"/>
            <a:ext cx="6492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Validemos esto juntos:</a:t>
            </a:r>
            <a:endParaRPr lang="en-US" sz="3100" dirty="0"/>
          </a:p>
          <a:p>
            <a:pPr algn="l" indent="0" marL="0">
              <a:lnSpc>
                <a:spcPct val="106000"/>
              </a:lnSpc>
              <a:buNone/>
            </a:pPr>
            <a:r>
              <a:rPr lang="en-US" sz="31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 días, un grupo acotado.</a:t>
            </a:r>
            <a:endParaRPr lang="en-US" sz="3100" dirty="0"/>
          </a:p>
        </p:txBody>
      </p:sp>
      <p:sp>
        <p:nvSpPr>
          <p:cNvPr id="5" name="Shape 2"/>
          <p:cNvSpPr/>
          <p:nvPr/>
        </p:nvSpPr>
        <p:spPr>
          <a:xfrm>
            <a:off x="777240" y="3017520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3017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1252728" y="298094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Acuerdo de intención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52728" y="327355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documento breve con alcance, indicadores de éxito y condiciones.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840480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3840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1252728" y="38039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Onboarding acompañado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52728" y="409651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Activación guiada del grupo y comunicación interna preparada.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77240" y="4663440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46634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1252728" y="462686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Medición de adopción y uso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252728" y="491947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Activación, utilización por cobertura y consultas resueltas.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77240" y="5486400"/>
            <a:ext cx="310896" cy="310896"/>
          </a:xfrm>
          <a:prstGeom prst="ellipse">
            <a:avLst/>
          </a:prstGeom>
          <a:solidFill>
            <a:srgbClr val="2C3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77240" y="54864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252728" y="544982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Decisión informada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1252728" y="5742432"/>
            <a:ext cx="5852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1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día 90, datos reales de su empresa para decidir si continúa.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6364224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Hasta 100 colaboradores · acceso familiar incluido · reporte corporativo agregado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Prototipo-comercial/presentacion/img/cost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A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" name="Image 1" descr="/home/user/Prototipo-comercial/presentacion/img/logo-blanc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77240" y="603504"/>
            <a:ext cx="402336" cy="42611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344168" y="685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APLICA TU SEGURO</a:t>
            </a:r>
            <a:endParaRPr lang="en-US" sz="1150" dirty="0"/>
          </a:p>
        </p:txBody>
      </p:sp>
      <p:sp>
        <p:nvSpPr>
          <p:cNvPr id="6" name="Text 2"/>
          <p:cNvSpPr txBox="1"/>
          <p:nvPr/>
        </p:nvSpPr>
        <p:spPr>
          <a:xfrm>
            <a:off x="777240" y="237744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¿Tendría sentido probar esto</a:t>
            </a:r>
            <a:endParaRPr lang="en-US" sz="34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un grupo de sus colaboradores?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777240" y="4572000"/>
            <a:ext cx="5029200" cy="1481328"/>
          </a:xfrm>
          <a:prstGeom prst="roundRect">
            <a:avLst>
              <a:gd name="adj" fmla="val 9877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1106424" y="47731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Diego Córdova E.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1106424" y="50657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8D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Fundador · Aplica tu Seguro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1106424" y="5394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+569 8495 3941</a:t>
            </a:r>
            <a:endParaRPr lang="en-US" sz="1200" dirty="0"/>
          </a:p>
        </p:txBody>
      </p:sp>
      <p:sp>
        <p:nvSpPr>
          <p:cNvPr id="11" name="Text 7">
            <a:hlinkClick r:id="rId3" tooltip=""/>
          </p:cNvPr>
          <p:cNvSpPr txBox="1"/>
          <p:nvPr/>
        </p:nvSpPr>
        <p:spPr>
          <a:xfrm>
            <a:off x="1106424" y="56692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u="sng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hola@aplicatuseguro.cl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7240" y="6364224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8FA9D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comercial · Los datos, personas y empresas mostrados son simulados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Aplica tu Seguro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Aplica tu Seguro — Presentación comercial</dc:title>
  <dc:subject>Presentación comercial B2B2E · datos simulados</dc:subject>
  <dc:creator>Aplica tu Seguro</dc:creator>
  <cp:lastModifiedBy>Aplica tu Seguro</cp:lastModifiedBy>
  <cp:revision>1</cp:revision>
  <dcterms:created xsi:type="dcterms:W3CDTF">2026-09-20T02:02:49Z</dcterms:created>
  <dcterms:modified xsi:type="dcterms:W3CDTF">2026-09-20T02:02:49Z</dcterms:modified>
</cp:coreProperties>
</file>